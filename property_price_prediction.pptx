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Property Prices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Real Estate Valuation using Regression, Ensemble Models,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Dimensionality Reduction (PCA)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377440" cy="182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074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Aksa Pathan
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1298448"/>
            <a:ext cx="12188952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6492240" cy="4480560"/>
          </a:xfrm>
          <a:prstGeom prst="rect">
            <a:avLst/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estate market is highly dynamic, shaped by location, size, amenities, neighborhood, and dozens of structural features. Accurately estimating a property's price is critical for agents, buyers, and sellers alike.
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project builds a machine learning pipeline that predicts residential property prices (Ames Housing-style dataset) using 81 raw features spanning structural quality, location, and sale conditions.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covers data cleaning, exploratory data analysis, feature engineering, encoding, scaling, PCA-based dimensionality reduction, and comparison of multiple regression algorithms.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06640" y="169164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8013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35240" y="25328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320040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331012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635240" y="40416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481888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635240" y="5550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Compared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Property Price Prediction Capstone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1298448"/>
            <a:ext cx="12188952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37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Cleaning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21031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clean real estate data for the target location, handling missing values and inconsistencies.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1801368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737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vs Nominal Handling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86600" y="21031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ordinal and nominal columns using the metadata sheet for correct feature treatment.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73552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74720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4107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PCA &amp; Imputation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377647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scaling, fillna() strategies, and PCA to handle missing data and boost model accuracy.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273552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3474720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4107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377647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to uncover key variables that influence property prices.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46904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148072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148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508406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Strategy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25880" y="5449824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right encoding technique (Ordinal / One-Hot) for each variable type.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946904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0528" y="5148072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5148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86600" y="508406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Evaluation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86600" y="5449824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compare, and evaluate multiple ML algorithms; target R² between 75%-85%+.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Property Price Prediction Capstone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followed in this capstone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1298448"/>
            <a:ext cx="12188952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88036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47088" y="3241548"/>
            <a:ext cx="100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47672" y="288036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3A4A93"/>
          </a:solidFill>
          <a:ln/>
        </p:spPr>
      </p:sp>
      <p:sp>
        <p:nvSpPr>
          <p:cNvPr id="9" name="Text 7"/>
          <p:cNvSpPr/>
          <p:nvPr/>
        </p:nvSpPr>
        <p:spPr>
          <a:xfrm>
            <a:off x="1947672" y="288036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46120" y="3241548"/>
            <a:ext cx="100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46704" y="288036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346704" y="288036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45152" y="3241548"/>
            <a:ext cx="100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45736" y="288036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3A4A93"/>
          </a:solidFill>
          <a:ln/>
        </p:spPr>
      </p:sp>
      <p:sp>
        <p:nvSpPr>
          <p:cNvPr id="15" name="Text 13"/>
          <p:cNvSpPr/>
          <p:nvPr/>
        </p:nvSpPr>
        <p:spPr>
          <a:xfrm>
            <a:off x="4745736" y="288036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44184" y="3241548"/>
            <a:ext cx="100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44768" y="288036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288036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43216" y="3241548"/>
            <a:ext cx="100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43800" y="288036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3A4A93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288036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842248" y="3241548"/>
            <a:ext cx="100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42832" y="288036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942832" y="288036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241280" y="3241548"/>
            <a:ext cx="100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341864" y="288036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3A4A93"/>
          </a:solidFill>
          <a:ln/>
        </p:spPr>
      </p:sp>
      <p:sp>
        <p:nvSpPr>
          <p:cNvPr id="27" name="Text 25"/>
          <p:cNvSpPr/>
          <p:nvPr/>
        </p:nvSpPr>
        <p:spPr>
          <a:xfrm>
            <a:off x="10341864" y="288036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434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 applied: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None/mode/median imputation  •  OrdinalEncoder for ranked features  •  OneHotEncoder for nominal features  •  StandardScaler  •  PCA (95% variance retained)  •  Linear Regression, Decision Tree, Random Forest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11064240" cy="1920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315968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 applied: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values handled via None-fill (feature absent), mode-fill (categorical), and neighborhood-median fill (numeric)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OrdinalEncoder for ranked quality features; OneHotEncoder for nominal categories; StandardScaler for numeric features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PCA applied (95% variance retained) and benchmarked against the non-PCA pipeline across 3 regression models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Property Price Prediction Capstone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working dataset in Jupyter Notebook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1298448"/>
            <a:ext cx="12188952" cy="18288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nb_images/shot_datase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41080" y="1600200"/>
            <a:ext cx="3017520" cy="448056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869680" y="2194560"/>
            <a:ext cx="2651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1,460 property records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raw features + target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PropPrice (sale price in $)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numeric, ordinal &amp; nominal columns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 found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local real estate records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include PropertySize, GrLivArea, OverallQual, Neighborhood, YearBuilt, KitchenQual, and BasementSqFootage — spanning structural, locational, and quality dimensions of each property.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Property Price Prediction Capstone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Missing Values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missing-value audit after imputation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1298448"/>
            <a:ext cx="12188952" cy="18288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nb_images/shot_missing_val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766560" cy="2816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45920"/>
            <a:ext cx="4114800" cy="4434840"/>
          </a:xfrm>
          <a:prstGeom prst="roundRect">
            <a:avLst>
              <a:gd name="adj" fmla="val 155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Strategy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0" y="2286000"/>
            <a:ext cx="3703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“None” fill — for features where a missing value means the amenity is absent (Alley, PoolQC, Fireplace Quality, Basement type)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fill — for categorical columns with very few missing entries (Electrical, Basement finish ratings)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Group-median fill — PropertyFrontage imputed using the median within each Neighborhood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fill — numeric garage/masonry fields where 0 correctly represents “none present”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Property Price Prediction Capstone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Univariate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outlier check for the target and key discrete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1298448"/>
            <a:ext cx="12188952" cy="18288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nb_images/img_001_cell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315200" cy="2724912"/>
          </a:xfrm>
          <a:prstGeom prst="rect">
            <a:avLst/>
          </a:prstGeom>
        </p:spPr>
      </p:pic>
      <p:pic>
        <p:nvPicPr>
          <p:cNvPr id="6" name="Image 1" descr="/home/claude/nb_images/img_009_cell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34840"/>
            <a:ext cx="512064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092440" y="1600200"/>
            <a:ext cx="3566160" cy="4846320"/>
          </a:xfrm>
          <a:prstGeom prst="roundRect">
            <a:avLst>
              <a:gd name="adj" fmla="val 1795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32104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321040" y="2194560"/>
            <a:ext cx="3108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PropPrice is highly right-skewed and leptokurtic — most homes cluster around $130K–$215K, with a long tail of premium properties.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Boxplots confirm genuine high-value outliers rather than data errors, typical of real estate markets.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OverallQual and BasementCars concentrate around average ratings — exceptionally high/low ratings are rare.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Property Price Prediction Capstone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Bivariate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key features and property price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1298448"/>
            <a:ext cx="12188952" cy="18288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nb_images/img_019_cell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5212080" cy="2606040"/>
          </a:xfrm>
          <a:prstGeom prst="rect">
            <a:avLst/>
          </a:prstGeom>
        </p:spPr>
      </p:pic>
      <p:pic>
        <p:nvPicPr>
          <p:cNvPr id="6" name="Image 1" descr="/home/claude/nb_images/img_024_cell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2560320"/>
          </a:xfrm>
          <a:prstGeom prst="rect">
            <a:avLst/>
          </a:prstGeom>
        </p:spPr>
      </p:pic>
      <p:pic>
        <p:nvPicPr>
          <p:cNvPr id="7" name="Image 2" descr="/home/claude/nb_images/img_022_cell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434840"/>
            <a:ext cx="5212080" cy="20574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943600" y="4434840"/>
            <a:ext cx="5760720" cy="2057400"/>
          </a:xfrm>
          <a:prstGeom prst="roundRect">
            <a:avLst>
              <a:gd name="adj" fmla="val 3111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172200" y="4590288"/>
            <a:ext cx="5349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GrLivArea shows a clear positive relationship with price — larger living areas command higher value.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Neighborhood and KitchenQual create visibly distinct price bands, confirming location &amp; quality matter.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OverallQual and BasementCars both correlate positively with PropPrice.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Property Price Prediction Capstone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Multivariate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 and combined feature effects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1298448"/>
            <a:ext cx="12188952" cy="18288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nb_images/img_029_cell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4892040" cy="4370832"/>
          </a:xfrm>
          <a:prstGeom prst="rect">
            <a:avLst/>
          </a:prstGeom>
        </p:spPr>
      </p:pic>
      <p:pic>
        <p:nvPicPr>
          <p:cNvPr id="6" name="Image 1" descr="/home/claude/nb_images/img_030_cell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554480"/>
            <a:ext cx="5577840" cy="42245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area, overall quality, property size, and garage capacity emerge as the strongest joint predictors of price, while moderate inter-feature correlation signals mild multicollinearity to watch for.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Property Price Prediction Capstone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1298448"/>
            <a:ext cx="12188952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TotalBath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587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Bath1 + 0.5×Bath2 + BsmtFullBath + 0.5×BsmtHalfBath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07238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HouseAge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3741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SaleYr − YearBuilt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8587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SaleYr − YearRemodAdd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46451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TotalPorchSF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49469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+ Enclosed + 3-Season + Screen porch area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54315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TotalArea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733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GrLivArea + BasementSqFootage (combined living space)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600200"/>
            <a:ext cx="5349240" cy="4480560"/>
          </a:xfrm>
          <a:prstGeom prst="roundRect">
            <a:avLst>
              <a:gd name="adj" fmla="val 142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7830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 Pipeline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228600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→ StandardScaler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features (e.g. ExterQual, KitchenQual) → OrdinalEncoder, preserving natural rank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features (e.g. PropertyZone, Neighborhood) → OneHotEncoder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(95% variance retained) applied post-scaling to test dimensionality reduction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/ 20% train-test split, random_state = 42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Property Price Prediction Capstone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 &amp;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Decision Tree &amp; Random Forest — with and without PCA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1298448"/>
            <a:ext cx="12188952" cy="18288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nb_images/shot_r2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492240" cy="2450592"/>
          </a:xfrm>
          <a:prstGeom prst="rect">
            <a:avLst/>
          </a:prstGeom>
        </p:spPr>
      </p:pic>
      <p:pic>
        <p:nvPicPr>
          <p:cNvPr id="6" name="Image 1" descr="/home/claude/nb_images/img_036_cell6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160520"/>
            <a:ext cx="2743200" cy="2295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0" y="1554480"/>
            <a:ext cx="4343400" cy="4709160"/>
          </a:xfrm>
          <a:prstGeom prst="roundRect">
            <a:avLst>
              <a:gd name="adj" fmla="val 1474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543800" y="17373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Random Forest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543800" y="21488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87.64%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(without PCA)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7543800" y="3246120"/>
            <a:ext cx="3886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achieved the strongest predictive performance among all models tested.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Regression was a close second (88.04% without PCA), showing the data is largely linearly separable.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PCA reduced dimensionality but slightly lowered accuracy across models — the original feature space carries valuable signal.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R² range (75%–88%) meets and exceeds the project's target benchmark.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Property Price Prediction Capstone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&amp; 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194560" cy="182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760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real-world missing-data strategies (None-fill, mode-fill, group-median-fill)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ordinal vs nominal encoding and when to apply each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StandardScaler + PCA and measured their real impact on model accuracy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Linear Regression, Decision Tree, and Random Forest on a common evaluation framework (R², MAE, RMSE)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5760720" cy="1965960"/>
          </a:xfrm>
          <a:prstGeom prst="roundRect">
            <a:avLst>
              <a:gd name="adj" fmla="val 3256"/>
            </a:avLst>
          </a:prstGeom>
          <a:solidFill>
            <a:srgbClr val="24316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389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75488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model, using the full engineered feature set without PCA, delivers the most reliable property price predictions, giving real estate agents, buyers, and sellers a data-driven valuation tool.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20840" y="1371600"/>
            <a:ext cx="484632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554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2011680"/>
            <a:ext cx="43891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Cock, D. (2011). Ames Housing Dataset — original data documentation.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 et al. (2011). Scikit-learn: Machine Learning in Python. JMLR 12.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McKinney, W. (2010). Data Structures for Statistical Computing in Python (pandas).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Waskom, M. (2021). seaborn: statistical data visualization. JOSS.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Hastie, Tibshirani &amp; Friedman. The Elements of Statistical Learning.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pandas, seaborn &amp; matplotlib official documentation.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•  Aksa Pathan  •  Property Price Prediction Capstone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2026-08-12T09:55:17Z</dcterms:created>
  <dcterms:modified xsi:type="dcterms:W3CDTF">2026-08-12T09:55:17Z</dcterms:modified>
</cp:coreProperties>
</file>